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ibre Franklin"/>
      <p:regular r:id="rId31"/>
      <p:bold r:id="rId32"/>
      <p:italic r:id="rId33"/>
      <p:boldItalic r:id="rId34"/>
    </p:embeddedFont>
    <p:embeddedFont>
      <p:font typeface="Sofia Sans"/>
      <p:regular r:id="rId35"/>
      <p:bold r:id="rId36"/>
      <p:italic r:id="rId37"/>
      <p:boldItalic r:id="rId38"/>
    </p:embeddedFont>
    <p:embeddedFont>
      <p:font typeface="Anaheim"/>
      <p:regular r:id="rId39"/>
      <p:bold r:id="rId40"/>
    </p:embeddedFont>
    <p:embeddedFont>
      <p:font typeface="Sofia Sans SemiBold"/>
      <p:regular r:id="rId41"/>
      <p:bold r:id="rId42"/>
      <p:italic r:id="rId43"/>
      <p:boldItalic r:id="rId44"/>
    </p:embeddedFont>
    <p:embeddedFont>
      <p:font typeface="PT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562115-20BB-4BAD-926E-A707FB2A00ED}">
  <a:tblStyle styleId="{BE562115-20BB-4BAD-926E-A707FB2A0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naheim-bold.fntdata"/><Relationship Id="rId20" Type="http://schemas.openxmlformats.org/officeDocument/2006/relationships/slide" Target="slides/slide13.xml"/><Relationship Id="rId42" Type="http://schemas.openxmlformats.org/officeDocument/2006/relationships/font" Target="fonts/SofiaSansSemiBold-bold.fntdata"/><Relationship Id="rId41" Type="http://schemas.openxmlformats.org/officeDocument/2006/relationships/font" Target="fonts/SofiaSansSemiBold-regular.fntdata"/><Relationship Id="rId22" Type="http://schemas.openxmlformats.org/officeDocument/2006/relationships/slide" Target="slides/slide15.xml"/><Relationship Id="rId44" Type="http://schemas.openxmlformats.org/officeDocument/2006/relationships/font" Target="fonts/SofiaSansSemiBold-boldItalic.fntdata"/><Relationship Id="rId21" Type="http://schemas.openxmlformats.org/officeDocument/2006/relationships/slide" Target="slides/slide14.xml"/><Relationship Id="rId43" Type="http://schemas.openxmlformats.org/officeDocument/2006/relationships/font" Target="fonts/SofiaSansSemiBold-italic.fntdata"/><Relationship Id="rId24" Type="http://schemas.openxmlformats.org/officeDocument/2006/relationships/slide" Target="slides/slide17.xml"/><Relationship Id="rId46" Type="http://schemas.openxmlformats.org/officeDocument/2006/relationships/font" Target="fonts/PTSans-bold.fntdata"/><Relationship Id="rId23" Type="http://schemas.openxmlformats.org/officeDocument/2006/relationships/slide" Target="slides/slide16.xml"/><Relationship Id="rId45" Type="http://schemas.openxmlformats.org/officeDocument/2006/relationships/font" Target="fonts/PT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PTSans-boldItalic.fntdata"/><Relationship Id="rId25" Type="http://schemas.openxmlformats.org/officeDocument/2006/relationships/slide" Target="slides/slide18.xml"/><Relationship Id="rId47" Type="http://schemas.openxmlformats.org/officeDocument/2006/relationships/font" Target="fonts/PTSans-italic.fnt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aleway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ibreFranklin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4.xml"/><Relationship Id="rId33" Type="http://schemas.openxmlformats.org/officeDocument/2006/relationships/font" Target="fonts/LibreFranklin-italic.fntdata"/><Relationship Id="rId10" Type="http://schemas.openxmlformats.org/officeDocument/2006/relationships/slide" Target="slides/slide3.xml"/><Relationship Id="rId32" Type="http://schemas.openxmlformats.org/officeDocument/2006/relationships/font" Target="fonts/LibreFranklin-bold.fntdata"/><Relationship Id="rId13" Type="http://schemas.openxmlformats.org/officeDocument/2006/relationships/slide" Target="slides/slide6.xml"/><Relationship Id="rId35" Type="http://schemas.openxmlformats.org/officeDocument/2006/relationships/font" Target="fonts/SofiaSans-regular.fntdata"/><Relationship Id="rId12" Type="http://schemas.openxmlformats.org/officeDocument/2006/relationships/slide" Target="slides/slide5.xml"/><Relationship Id="rId34" Type="http://schemas.openxmlformats.org/officeDocument/2006/relationships/font" Target="fonts/LibreFranklin-boldItalic.fntdata"/><Relationship Id="rId15" Type="http://schemas.openxmlformats.org/officeDocument/2006/relationships/slide" Target="slides/slide8.xml"/><Relationship Id="rId37" Type="http://schemas.openxmlformats.org/officeDocument/2006/relationships/font" Target="fonts/SofiaSans-italic.fntdata"/><Relationship Id="rId14" Type="http://schemas.openxmlformats.org/officeDocument/2006/relationships/slide" Target="slides/slide7.xml"/><Relationship Id="rId36" Type="http://schemas.openxmlformats.org/officeDocument/2006/relationships/font" Target="fonts/SofiaSans-bold.fntdata"/><Relationship Id="rId17" Type="http://schemas.openxmlformats.org/officeDocument/2006/relationships/slide" Target="slides/slide10.xml"/><Relationship Id="rId39" Type="http://schemas.openxmlformats.org/officeDocument/2006/relationships/font" Target="fonts/Anaheim-regular.fntdata"/><Relationship Id="rId16" Type="http://schemas.openxmlformats.org/officeDocument/2006/relationships/slide" Target="slides/slide9.xml"/><Relationship Id="rId38" Type="http://schemas.openxmlformats.org/officeDocument/2006/relationships/font" Target="fonts/SofiaSans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da79305ad_2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da79305ad_2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a79305ad_2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da79305ad_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da79305ad_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da79305ad_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da79305a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da79305a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da79305ad_2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da79305ad_2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da79305ad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da79305ad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da79305ad_5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da79305ad_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da79305ad_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da79305ad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da79305ad_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da79305ad_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da79305ad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da79305ad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da79305ad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da79305a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da79305ad_6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da79305ad_6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da79305ad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da79305ad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da79305ad_8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da79305ad_8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da79305ad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ada79305ad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da79305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da79305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ccbddd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5ccbddd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da79305a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da79305a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da79305ad_2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ada79305ad_2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14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" name="Google Shape;57;p14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60" name="Google Shape;60;p14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hasCustomPrompt="1"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7" name="Google Shape;67;p15"/>
          <p:cNvGrpSpPr/>
          <p:nvPr/>
        </p:nvGrpSpPr>
        <p:grpSpPr>
          <a:xfrm>
            <a:off x="7814275" y="386450"/>
            <a:ext cx="855450" cy="4590600"/>
            <a:chOff x="7814275" y="386450"/>
            <a:chExt cx="855450" cy="4590600"/>
          </a:xfrm>
        </p:grpSpPr>
        <p:sp>
          <p:nvSpPr>
            <p:cNvPr id="68" name="Google Shape;68;p15"/>
            <p:cNvSpPr/>
            <p:nvPr/>
          </p:nvSpPr>
          <p:spPr>
            <a:xfrm>
              <a:off x="7814275" y="475025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8518225" y="43211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166250" y="3864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8518225" y="10922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720000" y="1017726"/>
            <a:ext cx="77040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8" name="Google Shape;78;p16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79" name="Google Shape;79;p16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-2986800" y="-3347075"/>
            <a:ext cx="15955275" cy="8010875"/>
            <a:chOff x="-2986800" y="-3347075"/>
            <a:chExt cx="15955275" cy="8010875"/>
          </a:xfrm>
        </p:grpSpPr>
        <p:sp>
          <p:nvSpPr>
            <p:cNvPr id="83" name="Google Shape;83;p16"/>
            <p:cNvSpPr/>
            <p:nvPr/>
          </p:nvSpPr>
          <p:spPr>
            <a:xfrm flipH="1" rot="10800000">
              <a:off x="8784375" y="479700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 flipH="1" rot="10800000">
              <a:off x="-2986800" y="-3347075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1342075" y="3255050"/>
            <a:ext cx="3012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2" type="subTitle"/>
          </p:nvPr>
        </p:nvSpPr>
        <p:spPr>
          <a:xfrm>
            <a:off x="1342075" y="1592327"/>
            <a:ext cx="3012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1342076" y="1222988"/>
            <a:ext cx="30126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4" type="subTitle"/>
          </p:nvPr>
        </p:nvSpPr>
        <p:spPr>
          <a:xfrm>
            <a:off x="1342076" y="2886309"/>
            <a:ext cx="30126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1" name="Google Shape;91;p17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92" name="Google Shape;92;p1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" name="Google Shape;94;p17"/>
          <p:cNvGrpSpPr/>
          <p:nvPr/>
        </p:nvGrpSpPr>
        <p:grpSpPr>
          <a:xfrm>
            <a:off x="462875" y="198225"/>
            <a:ext cx="8973075" cy="3528450"/>
            <a:chOff x="462875" y="198225"/>
            <a:chExt cx="8973075" cy="3528450"/>
          </a:xfrm>
        </p:grpSpPr>
        <p:sp>
          <p:nvSpPr>
            <p:cNvPr id="95" name="Google Shape;95;p17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 rot="10800000">
              <a:off x="8849150" y="10769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 rot="10800000">
              <a:off x="462875" y="36486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0" name="Google Shape;100;p18"/>
          <p:cNvGrpSpPr/>
          <p:nvPr/>
        </p:nvGrpSpPr>
        <p:grpSpPr>
          <a:xfrm rot="10800000">
            <a:off x="-100" y="-9725"/>
            <a:ext cx="9146700" cy="5143500"/>
            <a:chOff x="41600" y="-9725"/>
            <a:chExt cx="9146700" cy="5143500"/>
          </a:xfrm>
        </p:grpSpPr>
        <p:cxnSp>
          <p:nvCxnSpPr>
            <p:cNvPr id="101" name="Google Shape;101;p1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8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3" name="Google Shape;103;p18"/>
          <p:cNvSpPr/>
          <p:nvPr/>
        </p:nvSpPr>
        <p:spPr>
          <a:xfrm flipH="1" rot="10800000">
            <a:off x="-3696100" y="479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04" name="Google Shape;104;p18"/>
          <p:cNvGrpSpPr/>
          <p:nvPr/>
        </p:nvGrpSpPr>
        <p:grpSpPr>
          <a:xfrm>
            <a:off x="236675" y="789100"/>
            <a:ext cx="8531575" cy="4725575"/>
            <a:chOff x="236675" y="789100"/>
            <a:chExt cx="8531575" cy="4725575"/>
          </a:xfrm>
        </p:grpSpPr>
        <p:grpSp>
          <p:nvGrpSpPr>
            <p:cNvPr id="105" name="Google Shape;105;p18"/>
            <p:cNvGrpSpPr/>
            <p:nvPr/>
          </p:nvGrpSpPr>
          <p:grpSpPr>
            <a:xfrm>
              <a:off x="236675" y="789100"/>
              <a:ext cx="8531575" cy="4226125"/>
              <a:chOff x="236675" y="789100"/>
              <a:chExt cx="8531575" cy="4226125"/>
            </a:xfrm>
          </p:grpSpPr>
          <p:grpSp>
            <p:nvGrpSpPr>
              <p:cNvPr id="106" name="Google Shape;106;p18"/>
              <p:cNvGrpSpPr/>
              <p:nvPr/>
            </p:nvGrpSpPr>
            <p:grpSpPr>
              <a:xfrm>
                <a:off x="236675" y="789100"/>
                <a:ext cx="6388575" cy="4226125"/>
                <a:chOff x="236675" y="789100"/>
                <a:chExt cx="6388575" cy="4226125"/>
              </a:xfrm>
            </p:grpSpPr>
            <p:sp>
              <p:nvSpPr>
                <p:cNvPr id="107" name="Google Shape;107;p18"/>
                <p:cNvSpPr/>
                <p:nvPr/>
              </p:nvSpPr>
              <p:spPr>
                <a:xfrm>
                  <a:off x="236675" y="4630050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08" name="Google Shape;108;p18"/>
                <p:cNvSpPr/>
                <p:nvPr/>
              </p:nvSpPr>
              <p:spPr>
                <a:xfrm>
                  <a:off x="297650" y="789100"/>
                  <a:ext cx="226800" cy="2268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09" name="Google Shape;109;p18"/>
                <p:cNvSpPr/>
                <p:nvPr/>
              </p:nvSpPr>
              <p:spPr>
                <a:xfrm>
                  <a:off x="6473750" y="4785725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10" name="Google Shape;110;p18"/>
                <p:cNvSpPr/>
                <p:nvPr/>
              </p:nvSpPr>
              <p:spPr>
                <a:xfrm>
                  <a:off x="4024150" y="4937225"/>
                  <a:ext cx="78300" cy="78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sp>
            <p:nvSpPr>
              <p:cNvPr id="111" name="Google Shape;111;p18"/>
              <p:cNvSpPr/>
              <p:nvPr/>
            </p:nvSpPr>
            <p:spPr>
              <a:xfrm rot="10800000">
                <a:off x="463475" y="1846000"/>
                <a:ext cx="78300" cy="7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 rot="10800000">
                <a:off x="8616750" y="3611975"/>
                <a:ext cx="151500" cy="151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</p:grpSp>
        <p:sp>
          <p:nvSpPr>
            <p:cNvPr id="113" name="Google Shape;113;p18"/>
            <p:cNvSpPr/>
            <p:nvPr/>
          </p:nvSpPr>
          <p:spPr>
            <a:xfrm>
              <a:off x="2129850" y="49278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832975" y="820375"/>
            <a:ext cx="3945300" cy="9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subTitle"/>
          </p:nvPr>
        </p:nvSpPr>
        <p:spPr>
          <a:xfrm>
            <a:off x="832975" y="1779100"/>
            <a:ext cx="3945300" cy="24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5197850" y="150"/>
            <a:ext cx="3084600" cy="51435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8" name="Google Shape;118;p19"/>
          <p:cNvGrpSpPr/>
          <p:nvPr/>
        </p:nvGrpSpPr>
        <p:grpSpPr>
          <a:xfrm>
            <a:off x="466325" y="297350"/>
            <a:ext cx="8869225" cy="4942950"/>
            <a:chOff x="466325" y="297350"/>
            <a:chExt cx="8869225" cy="4942950"/>
          </a:xfrm>
        </p:grpSpPr>
        <p:sp>
          <p:nvSpPr>
            <p:cNvPr id="119" name="Google Shape;119;p1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 flipH="1">
              <a:off x="8870550" y="4775300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24" name="Google Shape;124;p19"/>
          <p:cNvGrpSpPr/>
          <p:nvPr/>
        </p:nvGrpSpPr>
        <p:grpSpPr>
          <a:xfrm flipH="1"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25" name="Google Shape;125;p1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29" name="Google Shape;129;p20"/>
          <p:cNvGrpSpPr/>
          <p:nvPr/>
        </p:nvGrpSpPr>
        <p:grpSpPr>
          <a:xfrm>
            <a:off x="6863521" y="2951897"/>
            <a:ext cx="2316450" cy="2212375"/>
            <a:chOff x="7507625" y="2942125"/>
            <a:chExt cx="2316450" cy="2212375"/>
          </a:xfrm>
        </p:grpSpPr>
        <p:sp>
          <p:nvSpPr>
            <p:cNvPr id="130" name="Google Shape;130;p20"/>
            <p:cNvSpPr/>
            <p:nvPr/>
          </p:nvSpPr>
          <p:spPr>
            <a:xfrm flipH="1">
              <a:off x="7507625" y="4927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 flipH="1">
              <a:off x="9452600" y="3884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407600" y="49653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 flipH="1">
              <a:off x="9551375" y="29421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20"/>
            <p:cNvSpPr/>
            <p:nvPr/>
          </p:nvSpPr>
          <p:spPr>
            <a:xfrm flipH="1">
              <a:off x="9359075" y="42571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35" name="Google Shape;135;p20"/>
          <p:cNvGrpSpPr/>
          <p:nvPr/>
        </p:nvGrpSpPr>
        <p:grpSpPr>
          <a:xfrm flipH="1" rot="10800000">
            <a:off x="-8429" y="-9725"/>
            <a:ext cx="9188400" cy="5153273"/>
            <a:chOff x="-100" y="-9725"/>
            <a:chExt cx="9188400" cy="5143500"/>
          </a:xfrm>
        </p:grpSpPr>
        <p:cxnSp>
          <p:nvCxnSpPr>
            <p:cNvPr id="136" name="Google Shape;136;p20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0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1" name="Google Shape;141;p21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142" name="Google Shape;142;p21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3" name="Google Shape;143;p21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4" name="Google Shape;144;p21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5" name="Google Shape;145;p21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48" name="Google Shape;148;p2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13225" y="1793550"/>
            <a:ext cx="3841500" cy="10593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713225" y="2852850"/>
            <a:ext cx="3841500" cy="4971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6" name="Google Shape;156;p23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57" name="Google Shape;157;p2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hasCustomPrompt="1" idx="2" type="title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25"/>
          <p:cNvSpPr txBox="1"/>
          <p:nvPr>
            <p:ph hasCustomPrompt="1" idx="3" type="title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164;p25"/>
          <p:cNvSpPr txBox="1"/>
          <p:nvPr>
            <p:ph hasCustomPrompt="1" idx="4" type="title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25"/>
          <p:cNvSpPr txBox="1"/>
          <p:nvPr>
            <p:ph hasCustomPrompt="1" idx="5" type="title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25"/>
          <p:cNvSpPr txBox="1"/>
          <p:nvPr>
            <p:ph hasCustomPrompt="1" idx="6" type="title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25"/>
          <p:cNvSpPr txBox="1"/>
          <p:nvPr>
            <p:ph hasCustomPrompt="1" idx="7" type="title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25"/>
          <p:cNvSpPr txBox="1"/>
          <p:nvPr>
            <p:ph idx="1" type="subTitle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8" type="subTitle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0" name="Google Shape;170;p25"/>
          <p:cNvSpPr txBox="1"/>
          <p:nvPr>
            <p:ph idx="9" type="subTitle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13" type="subTitle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4" type="subTitle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15" type="subTitle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4" name="Google Shape;174;p25"/>
          <p:cNvSpPr/>
          <p:nvPr/>
        </p:nvSpPr>
        <p:spPr>
          <a:xfrm>
            <a:off x="-3639025" y="-1269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75" name="Google Shape;175;p25"/>
          <p:cNvGrpSpPr/>
          <p:nvPr/>
        </p:nvGrpSpPr>
        <p:grpSpPr>
          <a:xfrm>
            <a:off x="162425" y="53900"/>
            <a:ext cx="8613450" cy="4786650"/>
            <a:chOff x="162425" y="53900"/>
            <a:chExt cx="8613450" cy="4786650"/>
          </a:xfrm>
        </p:grpSpPr>
        <p:sp>
          <p:nvSpPr>
            <p:cNvPr id="176" name="Google Shape;176;p25"/>
            <p:cNvSpPr/>
            <p:nvPr/>
          </p:nvSpPr>
          <p:spPr>
            <a:xfrm flipH="1">
              <a:off x="872475" y="539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7" name="Google Shape;177;p25"/>
            <p:cNvSpPr/>
            <p:nvPr/>
          </p:nvSpPr>
          <p:spPr>
            <a:xfrm flipH="1">
              <a:off x="7762250" y="4689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8" name="Google Shape;178;p25"/>
            <p:cNvSpPr/>
            <p:nvPr/>
          </p:nvSpPr>
          <p:spPr>
            <a:xfrm flipH="1">
              <a:off x="7686050" y="1292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9" name="Google Shape;179;p25"/>
            <p:cNvSpPr/>
            <p:nvPr/>
          </p:nvSpPr>
          <p:spPr>
            <a:xfrm flipH="1">
              <a:off x="8624375" y="19284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0" name="Google Shape;180;p25"/>
            <p:cNvSpPr/>
            <p:nvPr/>
          </p:nvSpPr>
          <p:spPr>
            <a:xfrm flipH="1">
              <a:off x="162425" y="34569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81" name="Google Shape;181;p25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82" name="Google Shape;182;p2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26"/>
          <p:cNvSpPr/>
          <p:nvPr/>
        </p:nvSpPr>
        <p:spPr>
          <a:xfrm>
            <a:off x="4522675" y="-38711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87" name="Google Shape;187;p26"/>
          <p:cNvGrpSpPr/>
          <p:nvPr/>
        </p:nvGrpSpPr>
        <p:grpSpPr>
          <a:xfrm>
            <a:off x="-100" y="0"/>
            <a:ext cx="9146700" cy="5146800"/>
            <a:chOff x="41600" y="-13048"/>
            <a:chExt cx="9146700" cy="5146800"/>
          </a:xfrm>
        </p:grpSpPr>
        <p:cxnSp>
          <p:nvCxnSpPr>
            <p:cNvPr id="188" name="Google Shape;188;p26"/>
            <p:cNvCxnSpPr/>
            <p:nvPr/>
          </p:nvCxnSpPr>
          <p:spPr>
            <a:xfrm>
              <a:off x="272250" y="-13048"/>
              <a:ext cx="0" cy="514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6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" name="Google Shape;190;p26"/>
          <p:cNvGrpSpPr/>
          <p:nvPr/>
        </p:nvGrpSpPr>
        <p:grpSpPr>
          <a:xfrm>
            <a:off x="423675" y="160575"/>
            <a:ext cx="8587500" cy="4242950"/>
            <a:chOff x="423675" y="160575"/>
            <a:chExt cx="8587500" cy="4242950"/>
          </a:xfrm>
        </p:grpSpPr>
        <p:sp>
          <p:nvSpPr>
            <p:cNvPr id="191" name="Google Shape;191;p26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 rot="10800000">
              <a:off x="8784375" y="30642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 rot="10800000">
              <a:off x="8822025" y="3901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 rot="10800000">
              <a:off x="7876950" y="2349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 rot="10800000">
              <a:off x="1957550" y="160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7" name="Google Shape;197;p26"/>
            <p:cNvSpPr/>
            <p:nvPr/>
          </p:nvSpPr>
          <p:spPr>
            <a:xfrm rot="10800000">
              <a:off x="423675" y="40525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8" name="Google Shape;198;p26"/>
            <p:cNvSpPr/>
            <p:nvPr/>
          </p:nvSpPr>
          <p:spPr>
            <a:xfrm rot="10800000">
              <a:off x="8784375" y="432552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810475" y="1270625"/>
            <a:ext cx="46203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" name="Google Shape;201;p27"/>
          <p:cNvSpPr txBox="1"/>
          <p:nvPr>
            <p:ph idx="1" type="subTitle"/>
          </p:nvPr>
        </p:nvSpPr>
        <p:spPr>
          <a:xfrm>
            <a:off x="3810475" y="1810075"/>
            <a:ext cx="46203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202" name="Google Shape;202;p27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203" name="Google Shape;203;p27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713225" y="2571750"/>
            <a:ext cx="2463000" cy="10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713225" y="3503243"/>
            <a:ext cx="2463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8"/>
          <p:cNvSpPr/>
          <p:nvPr>
            <p:ph idx="2" type="pic"/>
          </p:nvPr>
        </p:nvSpPr>
        <p:spPr>
          <a:xfrm>
            <a:off x="6896850" y="742950"/>
            <a:ext cx="2267100" cy="3657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8"/>
          <p:cNvSpPr/>
          <p:nvPr>
            <p:ph idx="3" type="pic"/>
          </p:nvPr>
        </p:nvSpPr>
        <p:spPr>
          <a:xfrm>
            <a:off x="5093225" y="742950"/>
            <a:ext cx="1607700" cy="3657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8"/>
          <p:cNvSpPr/>
          <p:nvPr>
            <p:ph idx="4" type="pic"/>
          </p:nvPr>
        </p:nvSpPr>
        <p:spPr>
          <a:xfrm>
            <a:off x="713150" y="742950"/>
            <a:ext cx="4184100" cy="1554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12" name="Google Shape;212;p28"/>
          <p:cNvGrpSpPr/>
          <p:nvPr/>
        </p:nvGrpSpPr>
        <p:grpSpPr>
          <a:xfrm flipH="1"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13" name="Google Shape;213;p2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5" name="Google Shape;215;p28"/>
          <p:cNvSpPr/>
          <p:nvPr/>
        </p:nvSpPr>
        <p:spPr>
          <a:xfrm rot="10800000">
            <a:off x="2843775" y="475680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1" type="subTitle"/>
          </p:nvPr>
        </p:nvSpPr>
        <p:spPr>
          <a:xfrm>
            <a:off x="937625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29"/>
          <p:cNvSpPr txBox="1"/>
          <p:nvPr>
            <p:ph idx="2" type="subTitle"/>
          </p:nvPr>
        </p:nvSpPr>
        <p:spPr>
          <a:xfrm>
            <a:off x="3484347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3" type="subTitle"/>
          </p:nvPr>
        </p:nvSpPr>
        <p:spPr>
          <a:xfrm>
            <a:off x="6031075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9"/>
          <p:cNvSpPr txBox="1"/>
          <p:nvPr>
            <p:ph idx="4" type="subTitle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5" type="subTitle"/>
          </p:nvPr>
        </p:nvSpPr>
        <p:spPr>
          <a:xfrm>
            <a:off x="3484350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6" type="subTitle"/>
          </p:nvPr>
        </p:nvSpPr>
        <p:spPr>
          <a:xfrm>
            <a:off x="6031075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24" name="Google Shape;224;p29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25" name="Google Shape;225;p2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2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7" name="Google Shape;227;p29"/>
          <p:cNvSpPr/>
          <p:nvPr/>
        </p:nvSpPr>
        <p:spPr>
          <a:xfrm flipH="1" rot="10800000">
            <a:off x="-1760700" y="413105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8" name="Google Shape;228;p29"/>
          <p:cNvGrpSpPr/>
          <p:nvPr/>
        </p:nvGrpSpPr>
        <p:grpSpPr>
          <a:xfrm>
            <a:off x="236675" y="3018575"/>
            <a:ext cx="8451400" cy="2369425"/>
            <a:chOff x="236675" y="3018575"/>
            <a:chExt cx="8451400" cy="2369425"/>
          </a:xfrm>
        </p:grpSpPr>
        <p:sp>
          <p:nvSpPr>
            <p:cNvPr id="229" name="Google Shape;229;p29"/>
            <p:cNvSpPr/>
            <p:nvPr/>
          </p:nvSpPr>
          <p:spPr>
            <a:xfrm>
              <a:off x="236675" y="4288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720000" y="48012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236675" y="3018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8536575" y="42125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7924875" y="480120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30"/>
          <p:cNvSpPr txBox="1"/>
          <p:nvPr>
            <p:ph idx="1" type="subTitle"/>
          </p:nvPr>
        </p:nvSpPr>
        <p:spPr>
          <a:xfrm>
            <a:off x="1067574" y="1671136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2" type="subTitle"/>
          </p:nvPr>
        </p:nvSpPr>
        <p:spPr>
          <a:xfrm>
            <a:off x="4828026" y="1671136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3" type="subTitle"/>
          </p:nvPr>
        </p:nvSpPr>
        <p:spPr>
          <a:xfrm>
            <a:off x="1067574" y="3328004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4" type="subTitle"/>
          </p:nvPr>
        </p:nvSpPr>
        <p:spPr>
          <a:xfrm>
            <a:off x="4828026" y="3328004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5" type="subTitle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6" type="subTitle"/>
          </p:nvPr>
        </p:nvSpPr>
        <p:spPr>
          <a:xfrm>
            <a:off x="1067574" y="29913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7" type="subTitle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8" type="subTitle"/>
          </p:nvPr>
        </p:nvSpPr>
        <p:spPr>
          <a:xfrm>
            <a:off x="4827998" y="29913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44" name="Google Shape;244;p30"/>
          <p:cNvGrpSpPr/>
          <p:nvPr/>
        </p:nvGrpSpPr>
        <p:grpSpPr>
          <a:xfrm flipH="1"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5" name="Google Shape;245;p30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30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30"/>
          <p:cNvGrpSpPr/>
          <p:nvPr/>
        </p:nvGrpSpPr>
        <p:grpSpPr>
          <a:xfrm>
            <a:off x="7142850" y="2050250"/>
            <a:ext cx="2190675" cy="2839050"/>
            <a:chOff x="7142850" y="2050250"/>
            <a:chExt cx="2190675" cy="2839050"/>
          </a:xfrm>
        </p:grpSpPr>
        <p:sp>
          <p:nvSpPr>
            <p:cNvPr id="248" name="Google Shape;248;p30"/>
            <p:cNvSpPr/>
            <p:nvPr/>
          </p:nvSpPr>
          <p:spPr>
            <a:xfrm rot="10800000">
              <a:off x="7142850" y="47378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10800000">
              <a:off x="8746725" y="33077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10800000">
              <a:off x="8926725" y="26588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10800000">
              <a:off x="8746725" y="20502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10800000">
              <a:off x="8668425" y="4321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53" name="Google Shape;253;p30"/>
          <p:cNvSpPr/>
          <p:nvPr/>
        </p:nvSpPr>
        <p:spPr>
          <a:xfrm flipH="1" rot="10800000">
            <a:off x="8237200" y="38945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" type="subTitle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31"/>
          <p:cNvSpPr txBox="1"/>
          <p:nvPr>
            <p:ph idx="2" type="subTitle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31"/>
          <p:cNvSpPr txBox="1"/>
          <p:nvPr>
            <p:ph idx="3" type="subTitle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31"/>
          <p:cNvSpPr txBox="1"/>
          <p:nvPr>
            <p:ph idx="4" type="subTitle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1"/>
          <p:cNvSpPr txBox="1"/>
          <p:nvPr>
            <p:ph idx="5" type="subTitle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1"/>
          <p:cNvSpPr txBox="1"/>
          <p:nvPr>
            <p:ph idx="6" type="subTitle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1"/>
          <p:cNvSpPr txBox="1"/>
          <p:nvPr>
            <p:ph idx="7" type="subTitle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8" type="subTitle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1"/>
          <p:cNvSpPr txBox="1"/>
          <p:nvPr>
            <p:ph idx="9" type="subTitle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13" type="subTitle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14" type="subTitle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7" name="Google Shape;267;p31"/>
          <p:cNvSpPr txBox="1"/>
          <p:nvPr>
            <p:ph idx="15" type="subTitle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68" name="Google Shape;268;p31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69" name="Google Shape;269;p3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3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1" name="Google Shape;271;p31"/>
          <p:cNvSpPr/>
          <p:nvPr/>
        </p:nvSpPr>
        <p:spPr>
          <a:xfrm flipH="1" rot="10800000">
            <a:off x="2478750" y="-38629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72" name="Google Shape;272;p31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273" name="Google Shape;273;p31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hasCustomPrompt="1" type="title"/>
          </p:nvPr>
        </p:nvSpPr>
        <p:spPr>
          <a:xfrm>
            <a:off x="798388" y="2052000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32"/>
          <p:cNvSpPr txBox="1"/>
          <p:nvPr>
            <p:ph idx="1" type="subTitle"/>
          </p:nvPr>
        </p:nvSpPr>
        <p:spPr>
          <a:xfrm>
            <a:off x="798400" y="2820924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hasCustomPrompt="1" idx="2" type="title"/>
          </p:nvPr>
        </p:nvSpPr>
        <p:spPr>
          <a:xfrm>
            <a:off x="2825700" y="539489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2" name="Google Shape;282;p32"/>
          <p:cNvSpPr txBox="1"/>
          <p:nvPr>
            <p:ph idx="3" type="subTitle"/>
          </p:nvPr>
        </p:nvSpPr>
        <p:spPr>
          <a:xfrm>
            <a:off x="2825700" y="1308400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hasCustomPrompt="1" idx="4" type="title"/>
          </p:nvPr>
        </p:nvSpPr>
        <p:spPr>
          <a:xfrm>
            <a:off x="4853013" y="2052000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4" name="Google Shape;284;p32"/>
          <p:cNvSpPr txBox="1"/>
          <p:nvPr>
            <p:ph idx="5" type="subTitle"/>
          </p:nvPr>
        </p:nvSpPr>
        <p:spPr>
          <a:xfrm>
            <a:off x="4853025" y="2820924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85" name="Google Shape;285;p32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86" name="Google Shape;286;p3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3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8" name="Google Shape;288;p32"/>
          <p:cNvSpPr/>
          <p:nvPr/>
        </p:nvSpPr>
        <p:spPr>
          <a:xfrm rot="10800000">
            <a:off x="424075" y="3346675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/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92" name="Google Shape;292;p33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93" name="Google Shape;293;p3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3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5" name="Google Shape;295;p33"/>
          <p:cNvGrpSpPr/>
          <p:nvPr/>
        </p:nvGrpSpPr>
        <p:grpSpPr>
          <a:xfrm>
            <a:off x="3387100" y="-71975"/>
            <a:ext cx="5381150" cy="3835450"/>
            <a:chOff x="3387100" y="-71975"/>
            <a:chExt cx="5381150" cy="3835450"/>
          </a:xfrm>
        </p:grpSpPr>
        <p:sp>
          <p:nvSpPr>
            <p:cNvPr id="296" name="Google Shape;296;p33"/>
            <p:cNvSpPr/>
            <p:nvPr/>
          </p:nvSpPr>
          <p:spPr>
            <a:xfrm rot="10800000">
              <a:off x="5454575" y="1938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 rot="10800000">
              <a:off x="8167300" y="2305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8" name="Google Shape;298;p33"/>
            <p:cNvSpPr/>
            <p:nvPr/>
          </p:nvSpPr>
          <p:spPr>
            <a:xfrm rot="10800000">
              <a:off x="3387100" y="-71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 rot="10800000">
              <a:off x="8616750" y="36119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00" name="Google Shape;300;p33"/>
          <p:cNvSpPr txBox="1"/>
          <p:nvPr/>
        </p:nvSpPr>
        <p:spPr>
          <a:xfrm>
            <a:off x="713225" y="3352938"/>
            <a:ext cx="36048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1" sz="1000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4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303" name="Google Shape;303;p34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4" name="Google Shape;304;p34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5" name="Google Shape;305;p34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6" name="Google Shape;306;p34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7" name="Google Shape;307;p34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308" name="Google Shape;308;p34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309" name="Google Shape;309;p34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34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5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313" name="Google Shape;313;p35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14" name="Google Shape;314;p35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15" name="Google Shape;315;p35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16" name="Google Shape;316;p35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17" name="Google Shape;317;p35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318" name="Google Shape;318;p35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319" name="Google Shape;319;p3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3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ctrTitle"/>
          </p:nvPr>
        </p:nvSpPr>
        <p:spPr>
          <a:xfrm>
            <a:off x="3733750" y="757200"/>
            <a:ext cx="4862100" cy="25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</a:t>
            </a:r>
            <a:r>
              <a:rPr b="1" lang="en"/>
              <a:t>Academic Outcome </a:t>
            </a:r>
            <a:r>
              <a:rPr lang="en"/>
              <a:t>in Higher Education</a:t>
            </a:r>
            <a:endParaRPr/>
          </a:p>
        </p:txBody>
      </p:sp>
      <p:sp>
        <p:nvSpPr>
          <p:cNvPr id="326" name="Google Shape;326;p36"/>
          <p:cNvSpPr txBox="1"/>
          <p:nvPr>
            <p:ph idx="1" type="subTitle"/>
          </p:nvPr>
        </p:nvSpPr>
        <p:spPr>
          <a:xfrm>
            <a:off x="3898750" y="3263475"/>
            <a:ext cx="4532100" cy="6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Arthur Behesnilian | Lisa Liu | Isidoro Flores   Osvaldo Valdiviezo | Kenia Sanchez-Macario</a:t>
            </a:r>
            <a:endParaRPr/>
          </a:p>
        </p:txBody>
      </p:sp>
      <p:pic>
        <p:nvPicPr>
          <p:cNvPr id="327" name="Google Shape;3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88" y="757212"/>
            <a:ext cx="3117649" cy="356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333" name="Google Shape;333;p37"/>
          <p:cNvSpPr txBox="1"/>
          <p:nvPr>
            <p:ph idx="2" type="title"/>
          </p:nvPr>
        </p:nvSpPr>
        <p:spPr>
          <a:xfrm>
            <a:off x="2911650" y="15084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4" name="Google Shape;334;p37"/>
          <p:cNvSpPr txBox="1"/>
          <p:nvPr>
            <p:ph idx="4" type="title"/>
          </p:nvPr>
        </p:nvSpPr>
        <p:spPr>
          <a:xfrm>
            <a:off x="5497650" y="15084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5" name="Google Shape;335;p37"/>
          <p:cNvSpPr txBox="1"/>
          <p:nvPr>
            <p:ph idx="6" type="title"/>
          </p:nvPr>
        </p:nvSpPr>
        <p:spPr>
          <a:xfrm>
            <a:off x="4204650" y="288653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6" name="Google Shape;336;p37"/>
          <p:cNvSpPr txBox="1"/>
          <p:nvPr>
            <p:ph idx="8" type="subTitle"/>
          </p:nvPr>
        </p:nvSpPr>
        <p:spPr>
          <a:xfrm>
            <a:off x="2013000" y="1958688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Visualization/</a:t>
            </a:r>
            <a:r>
              <a:rPr lang="en"/>
              <a:t> Exploration </a:t>
            </a:r>
            <a:endParaRPr/>
          </a:p>
        </p:txBody>
      </p:sp>
      <p:sp>
        <p:nvSpPr>
          <p:cNvPr id="337" name="Google Shape;337;p37"/>
          <p:cNvSpPr txBox="1"/>
          <p:nvPr>
            <p:ph idx="9" type="subTitle"/>
          </p:nvPr>
        </p:nvSpPr>
        <p:spPr>
          <a:xfrm>
            <a:off x="4599000" y="1973313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338" name="Google Shape;338;p37"/>
          <p:cNvSpPr txBox="1"/>
          <p:nvPr>
            <p:ph idx="13" type="subTitle"/>
          </p:nvPr>
        </p:nvSpPr>
        <p:spPr>
          <a:xfrm>
            <a:off x="3306000" y="3334114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Results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720000" y="2429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Detail and Goals</a:t>
            </a:r>
            <a:endParaRPr/>
          </a:p>
        </p:txBody>
      </p:sp>
      <p:sp>
        <p:nvSpPr>
          <p:cNvPr id="344" name="Google Shape;344;p38"/>
          <p:cNvSpPr txBox="1"/>
          <p:nvPr>
            <p:ph idx="3" type="subTitle"/>
          </p:nvPr>
        </p:nvSpPr>
        <p:spPr>
          <a:xfrm>
            <a:off x="1208200" y="1329950"/>
            <a:ext cx="3922800" cy="26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Kaggle Playground Series S4E6 dataset, build a predictive model that classifies students into three categories based on their academic trajectory: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Graduate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Dropout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Enrolled</a:t>
            </a:r>
            <a:endParaRPr/>
          </a:p>
        </p:txBody>
      </p:sp>
      <p:sp>
        <p:nvSpPr>
          <p:cNvPr id="345" name="Google Shape;345;p38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6" name="Google Shape;346;p38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7" name="Google Shape;347;p38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820" y="1306800"/>
            <a:ext cx="1872803" cy="32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4" name="Google Shape;354;p39"/>
          <p:cNvSpPr txBox="1"/>
          <p:nvPr>
            <p:ph type="title"/>
          </p:nvPr>
        </p:nvSpPr>
        <p:spPr>
          <a:xfrm>
            <a:off x="4572000" y="1906238"/>
            <a:ext cx="38577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Data Visualization/Exploration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55" name="Google Shape;355;p39"/>
          <p:cNvSpPr txBox="1"/>
          <p:nvPr>
            <p:ph idx="2" type="title"/>
          </p:nvPr>
        </p:nvSpPr>
        <p:spPr>
          <a:xfrm>
            <a:off x="5763600" y="985313"/>
            <a:ext cx="1474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56" name="Google Shape;3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39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58" name="Google Shape;358;p39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59" name="Google Shape;359;p39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Overview: Predicting Student Success</a:t>
            </a:r>
            <a:endParaRPr/>
          </a:p>
        </p:txBody>
      </p:sp>
      <p:sp>
        <p:nvSpPr>
          <p:cNvPr id="365" name="Google Shape;365;p40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6" name="Google Shape;366;p40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7" name="Google Shape;367;p40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8" name="Google Shape;368;p40"/>
          <p:cNvSpPr txBox="1"/>
          <p:nvPr>
            <p:ph idx="3" type="subTitle"/>
          </p:nvPr>
        </p:nvSpPr>
        <p:spPr>
          <a:xfrm>
            <a:off x="979025" y="1374450"/>
            <a:ext cx="3922800" cy="30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being explored was collected by a University in Portugal and contains 4,424 students with 37 features for each student which  include: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Academic </a:t>
            </a:r>
            <a:r>
              <a:rPr lang="en"/>
              <a:t>background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Socio-Economic </a:t>
            </a:r>
            <a:r>
              <a:rPr lang="en"/>
              <a:t>factors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Demographic information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</a:t>
            </a:r>
            <a:endParaRPr/>
          </a:p>
        </p:txBody>
      </p:sp>
      <p:pic>
        <p:nvPicPr>
          <p:cNvPr id="369" name="Google Shape;3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2350" y="1191988"/>
            <a:ext cx="3271226" cy="34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taken to Explore Data</a:t>
            </a:r>
            <a:endParaRPr/>
          </a:p>
        </p:txBody>
      </p:sp>
      <p:sp>
        <p:nvSpPr>
          <p:cNvPr id="375" name="Google Shape;375;p41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6" name="Google Shape;376;p41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7" name="Google Shape;377;p41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8" name="Google Shape;378;p41"/>
          <p:cNvSpPr txBox="1"/>
          <p:nvPr>
            <p:ph idx="3" type="subTitle"/>
          </p:nvPr>
        </p:nvSpPr>
        <p:spPr>
          <a:xfrm>
            <a:off x="1830300" y="864063"/>
            <a:ext cx="5483400" cy="13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step we took to explore the data was visualizing the structure to determine how many </a:t>
            </a:r>
            <a:r>
              <a:rPr lang="en"/>
              <a:t>features</a:t>
            </a:r>
            <a:r>
              <a:rPr lang="en"/>
              <a:t> we were working with and what those </a:t>
            </a:r>
            <a:r>
              <a:rPr lang="en"/>
              <a:t>features</a:t>
            </a:r>
            <a:r>
              <a:rPr lang="en"/>
              <a:t> were. </a:t>
            </a:r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175" y="2444025"/>
            <a:ext cx="8038850" cy="17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taken to Explore Data</a:t>
            </a:r>
            <a:endParaRPr/>
          </a:p>
        </p:txBody>
      </p:sp>
      <p:sp>
        <p:nvSpPr>
          <p:cNvPr id="385" name="Google Shape;385;p42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6" name="Google Shape;386;p42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7" name="Google Shape;387;p42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8" name="Google Shape;388;p42"/>
          <p:cNvSpPr txBox="1"/>
          <p:nvPr>
            <p:ph idx="3" type="subTitle"/>
          </p:nvPr>
        </p:nvSpPr>
        <p:spPr>
          <a:xfrm>
            <a:off x="979025" y="1792538"/>
            <a:ext cx="3450600" cy="17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then checked to see if the data is clean with no missing (null) values, which it was.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made analyzing the data easier for us.</a:t>
            </a:r>
            <a:endParaRPr/>
          </a:p>
        </p:txBody>
      </p:sp>
      <p:pic>
        <p:nvPicPr>
          <p:cNvPr id="389" name="Google Shape;389;p42" title="Screenshot 2025-12-04 162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650" y="873925"/>
            <a:ext cx="4184100" cy="3594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taken to Explore Data</a:t>
            </a:r>
            <a:endParaRPr/>
          </a:p>
        </p:txBody>
      </p:sp>
      <p:sp>
        <p:nvSpPr>
          <p:cNvPr id="395" name="Google Shape;395;p43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6" name="Google Shape;396;p43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7" name="Google Shape;397;p43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8" name="Google Shape;398;p43"/>
          <p:cNvSpPr txBox="1"/>
          <p:nvPr>
            <p:ph idx="3" type="subTitle"/>
          </p:nvPr>
        </p:nvSpPr>
        <p:spPr>
          <a:xfrm>
            <a:off x="979025" y="1261200"/>
            <a:ext cx="3644100" cy="26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visualized our target distribution and discovered a problem of class imbalance.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solve this issue, we </a:t>
            </a: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used stratified train-test splits and class weights during model training to ensure higher accuracy of results.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750" y="962763"/>
            <a:ext cx="4184100" cy="321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taken to Explore Data</a:t>
            </a:r>
            <a:endParaRPr/>
          </a:p>
        </p:txBody>
      </p:sp>
      <p:sp>
        <p:nvSpPr>
          <p:cNvPr id="405" name="Google Shape;405;p44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6" name="Google Shape;406;p44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7" name="Google Shape;407;p44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8" name="Google Shape;408;p44"/>
          <p:cNvSpPr txBox="1"/>
          <p:nvPr>
            <p:ph idx="3" type="subTitle"/>
          </p:nvPr>
        </p:nvSpPr>
        <p:spPr>
          <a:xfrm>
            <a:off x="622025" y="1018450"/>
            <a:ext cx="4035600" cy="3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visualized our </a:t>
            </a:r>
            <a:r>
              <a:rPr lang="en"/>
              <a:t>feature</a:t>
            </a:r>
            <a:r>
              <a:rPr lang="en"/>
              <a:t> distribution</a:t>
            </a:r>
            <a:r>
              <a:rPr lang="en"/>
              <a:t> and extracted a few insights from the data</a:t>
            </a:r>
            <a:r>
              <a:rPr lang="en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Age at enrollment is right-skewed.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Grade features  follow roughly normal distributions.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Binary features are heavily skewed toward 0.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Curricular unit features show varied distributions reflecting performance levels.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9800" y="700888"/>
            <a:ext cx="4035499" cy="39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15" name="Google Shape;415;p45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Modeling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16" name="Google Shape;416;p45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417" name="Google Shape;4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45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419" name="Google Shape;419;p45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Pipeline</a:t>
            </a:r>
            <a:endParaRPr/>
          </a:p>
        </p:txBody>
      </p:sp>
      <p:sp>
        <p:nvSpPr>
          <p:cNvPr id="426" name="Google Shape;426;p46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7" name="Google Shape;427;p46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8" name="Google Shape;428;p46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827525" y="1817651"/>
            <a:ext cx="3922800" cy="1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Numerical Features: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Imputation using median values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Standardization using StandardScaler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0" name="Google Shape;430;p46"/>
          <p:cNvSpPr txBox="1"/>
          <p:nvPr>
            <p:ph idx="3" type="subTitle"/>
          </p:nvPr>
        </p:nvSpPr>
        <p:spPr>
          <a:xfrm>
            <a:off x="4762500" y="1817650"/>
            <a:ext cx="4113300" cy="1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Categorical Features: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Imputation using the most frequent value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fia Sans"/>
              <a:buChar char="●"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One-hot encoding with unknown category handling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1" name="Google Shape;431;p46"/>
          <p:cNvSpPr txBox="1"/>
          <p:nvPr/>
        </p:nvSpPr>
        <p:spPr>
          <a:xfrm>
            <a:off x="827525" y="854600"/>
            <a:ext cx="8523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Using scikit-learn's ColumnTransformer to handle different feature types: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7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Validation Split</a:t>
            </a:r>
            <a:endParaRPr/>
          </a:p>
        </p:txBody>
      </p:sp>
      <p:sp>
        <p:nvSpPr>
          <p:cNvPr id="437" name="Google Shape;437;p47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8" name="Google Shape;438;p47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9" name="Google Shape;439;p47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40" name="Google Shape;440;p47"/>
          <p:cNvSpPr txBox="1"/>
          <p:nvPr>
            <p:ph idx="3" type="subTitle"/>
          </p:nvPr>
        </p:nvSpPr>
        <p:spPr>
          <a:xfrm>
            <a:off x="672175" y="922932"/>
            <a:ext cx="3922800" cy="31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an 80-20 </a:t>
            </a: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train validation split </a:t>
            </a:r>
            <a:r>
              <a:rPr lang="en"/>
              <a:t>so our models can learn from most data while still having </a:t>
            </a:r>
            <a:r>
              <a:rPr lang="en"/>
              <a:t>sufficient</a:t>
            </a:r>
            <a:r>
              <a:rPr lang="en"/>
              <a:t> data to validate our model training.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 is </a:t>
            </a:r>
            <a:r>
              <a:rPr lang="en"/>
              <a:t>imbalanced, as a result, we applied stratified sampling.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helps us obtain a more reliable </a:t>
            </a:r>
            <a:r>
              <a:rPr lang="en"/>
              <a:t>measurement</a:t>
            </a:r>
            <a:r>
              <a:rPr lang="en"/>
              <a:t> of model performance.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47"/>
          <p:cNvPicPr preferRelativeResize="0"/>
          <p:nvPr/>
        </p:nvPicPr>
        <p:blipFill rotWithShape="1">
          <a:blip r:embed="rId3">
            <a:alphaModFix/>
          </a:blip>
          <a:srcRect b="18804" l="2534" r="0" t="0"/>
          <a:stretch/>
        </p:blipFill>
        <p:spPr>
          <a:xfrm>
            <a:off x="4680775" y="1586150"/>
            <a:ext cx="4184099" cy="16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"/>
          <p:cNvSpPr txBox="1"/>
          <p:nvPr>
            <p:ph type="title"/>
          </p:nvPr>
        </p:nvSpPr>
        <p:spPr>
          <a:xfrm>
            <a:off x="720000" y="180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| Logistic Regression</a:t>
            </a:r>
            <a:endParaRPr/>
          </a:p>
        </p:txBody>
      </p:sp>
      <p:sp>
        <p:nvSpPr>
          <p:cNvPr id="447" name="Google Shape;447;p48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48" name="Google Shape;448;p48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49" name="Google Shape;449;p48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0" name="Google Shape;450;p48"/>
          <p:cNvSpPr txBox="1"/>
          <p:nvPr>
            <p:ph idx="3" type="subTitle"/>
          </p:nvPr>
        </p:nvSpPr>
        <p:spPr>
          <a:xfrm>
            <a:off x="672175" y="1556757"/>
            <a:ext cx="3922800" cy="31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Logistic Regression (Baseline): </a:t>
            </a: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Linear model with balanced class weights. Provides interpretable baseline performance.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451" name="Google Shape;451;p48"/>
          <p:cNvPicPr preferRelativeResize="0"/>
          <p:nvPr/>
        </p:nvPicPr>
        <p:blipFill rotWithShape="1">
          <a:blip r:embed="rId3">
            <a:alphaModFix/>
          </a:blip>
          <a:srcRect b="0" l="7844" r="3116" t="0"/>
          <a:stretch/>
        </p:blipFill>
        <p:spPr>
          <a:xfrm>
            <a:off x="4821650" y="1407800"/>
            <a:ext cx="3922800" cy="19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9"/>
          <p:cNvSpPr txBox="1"/>
          <p:nvPr>
            <p:ph type="title"/>
          </p:nvPr>
        </p:nvSpPr>
        <p:spPr>
          <a:xfrm>
            <a:off x="672175" y="10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| Random Forest &amp; XGBoost</a:t>
            </a:r>
            <a:endParaRPr/>
          </a:p>
        </p:txBody>
      </p:sp>
      <p:sp>
        <p:nvSpPr>
          <p:cNvPr id="457" name="Google Shape;457;p49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8" name="Google Shape;458;p49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9" name="Google Shape;459;p49"/>
          <p:cNvSpPr/>
          <p:nvPr/>
        </p:nvSpPr>
        <p:spPr>
          <a:xfrm rot="10800000">
            <a:off x="827525" y="4064525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0" name="Google Shape;460;p49"/>
          <p:cNvSpPr txBox="1"/>
          <p:nvPr>
            <p:ph idx="3" type="subTitle"/>
          </p:nvPr>
        </p:nvSpPr>
        <p:spPr>
          <a:xfrm>
            <a:off x="672175" y="836875"/>
            <a:ext cx="3721500" cy="31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Random Forest: </a:t>
            </a: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Ensemble of 300 decision trees with balanced class weights. Captures non-linear relationships.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XGBoost: </a:t>
            </a: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Gradient boosting with 500 estimators, learning rate of 0.05, max depth of 6.</a:t>
            </a:r>
            <a:endParaRPr b="1" sz="2500"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461" name="Google Shape;46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225" y="2091525"/>
            <a:ext cx="4793200" cy="9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9"/>
          <p:cNvSpPr txBox="1"/>
          <p:nvPr/>
        </p:nvSpPr>
        <p:spPr>
          <a:xfrm>
            <a:off x="672175" y="3661300"/>
            <a:ext cx="77040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As we can see, from the three classification algorithms, we evaluated, XGBoost seems to be the best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0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8" name="Google Shape;468;p50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Final Results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69" name="Google Shape;469;p50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470" name="Google Shape;4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50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472" name="Google Shape;472;p50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73" name="Google Shape;473;p50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1"/>
          <p:cNvSpPr txBox="1"/>
          <p:nvPr/>
        </p:nvSpPr>
        <p:spPr>
          <a:xfrm>
            <a:off x="820050" y="1449000"/>
            <a:ext cx="7503900" cy="29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We successfully built a machine learning pipeline to predict academic risk for higher education students. </a:t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Our XGBoost model achieved </a:t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fia Sans"/>
              <a:buChar char="-"/>
            </a:pPr>
            <a:r>
              <a:rPr lang="en" sz="17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83% accuracy and 0.936 ROC-AUC effectively distinguishing between students who will graduate, drop out, or remain enrolled</a:t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The "Enrolled" class was hardest to predict since those students could go either way - some will drop out and some will graduate.</a:t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All models got above 0.92 AUC which means the features are pretty useful for predicting outcomes.</a:t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79" name="Google Shape;479;p51"/>
          <p:cNvSpPr txBox="1"/>
          <p:nvPr>
            <p:ph idx="2" type="title"/>
          </p:nvPr>
        </p:nvSpPr>
        <p:spPr>
          <a:xfrm>
            <a:off x="716100" y="484375"/>
            <a:ext cx="7711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Results</a:t>
            </a:r>
            <a:endParaRPr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2"/>
          <p:cNvSpPr txBox="1"/>
          <p:nvPr>
            <p:ph idx="2" type="title"/>
          </p:nvPr>
        </p:nvSpPr>
        <p:spPr>
          <a:xfrm>
            <a:off x="716100" y="484375"/>
            <a:ext cx="7711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Responsibilities</a:t>
            </a:r>
            <a:endParaRPr sz="4000"/>
          </a:p>
        </p:txBody>
      </p:sp>
      <p:graphicFrame>
        <p:nvGraphicFramePr>
          <p:cNvPr id="485" name="Google Shape;485;p52"/>
          <p:cNvGraphicFramePr/>
          <p:nvPr/>
        </p:nvGraphicFramePr>
        <p:xfrm>
          <a:off x="528500" y="194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{BE562115-20BB-4BAD-926E-A707FB2A00ED}</a:tableStyleId>
              </a:tblPr>
              <a:tblGrid>
                <a:gridCol w="1612325"/>
                <a:gridCol w="1618700"/>
                <a:gridCol w="1618650"/>
                <a:gridCol w="1618650"/>
                <a:gridCol w="160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Arthur Behesnilian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Lisa Liu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Isidoro Flores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Osvaldo Valdiviezo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Kenia Sanchez-Macario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Data Analysis, Model Training, Documentation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Documentation, Presentation, Peer Review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Data Analysis, Documentation, Presentation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Model Training, Documentation, Peer Review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Documentation, Presentation, Peer Review</a:t>
                      </a:r>
                      <a:endParaRPr sz="1700">
                        <a:solidFill>
                          <a:schemeClr val="dk1"/>
                        </a:solidFill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/>
          <p:nvPr>
            <p:ph type="title"/>
          </p:nvPr>
        </p:nvSpPr>
        <p:spPr>
          <a:xfrm>
            <a:off x="882150" y="1535350"/>
            <a:ext cx="3438000" cy="13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3"/>
          <p:cNvSpPr/>
          <p:nvPr/>
        </p:nvSpPr>
        <p:spPr>
          <a:xfrm flipH="1" rot="10800000">
            <a:off x="4065425" y="35487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92" name="Google Shape;4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60401"/>
            <a:ext cx="3984375" cy="357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/>
        </p:nvSpPr>
        <p:spPr>
          <a:xfrm>
            <a:off x="720000" y="1388700"/>
            <a:ext cx="77040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●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Kaggle Playground Series S4E6: 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○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https://www.kaggle.com/competitions/playground-series-s4e6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●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scikit-learn documentation: 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○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https://scikit-learn.org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●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XGBoost documentation: 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fia Sans"/>
              <a:buChar char="○"/>
            </a:pPr>
            <a:r>
              <a:rPr lang="en" sz="1800">
                <a:solidFill>
                  <a:schemeClr val="dk1"/>
                </a:solidFill>
                <a:latin typeface="Sofia Sans"/>
                <a:ea typeface="Sofia Sans"/>
                <a:cs typeface="Sofia Sans"/>
                <a:sym typeface="Sofia Sans"/>
              </a:rPr>
              <a:t>https://xgboost.readthedocs.io</a:t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98" name="Google Shape;498;p54"/>
          <p:cNvSpPr/>
          <p:nvPr/>
        </p:nvSpPr>
        <p:spPr>
          <a:xfrm flipH="1" rot="10800000">
            <a:off x="4065425" y="356435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99" name="Google Shape;499;p54"/>
          <p:cNvSpPr txBox="1"/>
          <p:nvPr>
            <p:ph idx="4294967295" type="title"/>
          </p:nvPr>
        </p:nvSpPr>
        <p:spPr>
          <a:xfrm>
            <a:off x="716100" y="359325"/>
            <a:ext cx="7711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References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